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640080"/>
            <a:ext cx="1828800" cy="1828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234440" cy="12344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2377440"/>
            <a:ext cx="731520" cy="7315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3749039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8368"/>
            <a:ext cx="6949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Aptos"/>
              </a:rPr>
              <a:t>DESARROLLO DEL PENSAMIENTO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58952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8FAFC"/>
                </a:solidFill>
                <a:latin typeface="Aptos"/>
              </a:rPr>
              <a:t>MISIÓN CAMPUS</a:t>
            </a:r>
          </a:p>
          <a:p>
            <a:pPr algn="l">
              <a:spcAft>
                <a:spcPts val="800"/>
              </a:spcAft>
            </a:pPr>
            <a:r>
              <a:rPr sz="3400" b="1">
                <a:solidFill>
                  <a:srgbClr val="F8FAFC"/>
                </a:solidFill>
                <a:latin typeface="Aptos"/>
              </a:rPr>
              <a:t>INTELIGENTE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90672"/>
            <a:ext cx="667512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>
                <a:solidFill>
                  <a:srgbClr val="E2E8F0"/>
                </a:solidFill>
                <a:latin typeface="Aptos"/>
              </a:rPr>
              <a:t>El misterio de los computadores desaparecidos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251960"/>
            <a:ext cx="65836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Propuesta: sistema sencillo para organizar préstamos y devoluciones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623560"/>
            <a:ext cx="61264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Aptos"/>
              </a:rPr>
              <a:t>Presentado por: Mateo García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989320"/>
            <a:ext cx="6583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Aptos"/>
              </a:rPr>
              <a:t>Entrega indicada en la guía: 23 de octubre de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01 · EL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¿Qué está pasando en el campus?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57784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22D3EE"/>
                </a:solidFill>
                <a:latin typeface="Aptos"/>
              </a:rPr>
              <a:t>Los registros no coinciden con la realidad.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486400" cy="2011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F8FAFC"/>
                </a:solidFill>
                <a:latin typeface="Aptos"/>
              </a:rPr>
              <a:t>• Algunos computadores aparecen disponibles, pero no se encuentran.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8FAFC"/>
                </a:solidFill>
                <a:latin typeface="Aptos"/>
              </a:rPr>
              <a:t>• Otros ya fueron devueltos, aunque siguen figurando como prestados.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8FAFC"/>
                </a:solidFill>
                <a:latin typeface="Aptos"/>
              </a:rPr>
              <a:t>• Estudiantes y personal pierden tiempo verificando distintos registros.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737360"/>
            <a:ext cx="2148840" cy="201168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883664"/>
            <a:ext cx="18013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563EB"/>
                </a:solidFill>
                <a:latin typeface="Aptos"/>
              </a:rPr>
              <a:t>REGISTRO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304288"/>
            <a:ext cx="1783080" cy="1353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Dice: disponible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Realidad: no aparece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737360"/>
            <a:ext cx="2148840" cy="201168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1737360"/>
            <a:ext cx="73152" cy="20116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1883664"/>
            <a:ext cx="18013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B923C"/>
                </a:solidFill>
                <a:latin typeface="Aptos"/>
              </a:rPr>
              <a:t>DEVOLUCIÓN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2304288"/>
            <a:ext cx="1783080" cy="1353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Realidad: entregado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Registro: prestado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06240"/>
            <a:ext cx="448056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2E8F0"/>
                </a:solidFill>
                <a:latin typeface="Aptos"/>
              </a:rPr>
              <a:t>Importante: el caso es ficticio; la guía aclara que no se trata de robos, sino de información desorganizada.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02 ·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Desafío 1 · Descubrir 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257800" cy="132588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1325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37944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Problema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58568"/>
            <a:ext cx="489204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La información de préstamos, disponibilidad y devoluciones está desactualizada o repartida en varios registros.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57800" cy="132588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73152" cy="1325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837944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4B8A6"/>
                </a:solidFill>
                <a:latin typeface="Aptos"/>
              </a:rPr>
              <a:t>Personas afectadas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58568"/>
            <a:ext cx="489204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1. Estudiantes que necesitan un equipo.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2. Personal del laboratorio.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3. La universidad, que administra los recursos.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5257800" cy="141732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337560"/>
            <a:ext cx="73152" cy="14173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483864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B923C"/>
                </a:solidFill>
                <a:latin typeface="Aptos"/>
              </a:rPr>
              <a:t>Dos causas posibles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904487"/>
            <a:ext cx="489204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• No actualizar el registro al prestar o devolver.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• Usar listas diferentes o anotar datos incompletos.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37560"/>
            <a:ext cx="5257800" cy="141732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3756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483864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563EB"/>
                </a:solidFill>
                <a:latin typeface="Aptos"/>
              </a:rPr>
              <a:t>Información indispensable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904487"/>
            <a:ext cx="489204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• Código único del computador.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• Nombre o identificación del responsable.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• Fecha y hora de préstamo.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• Estado: disponible, prestado o en revisión.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• Fecha y confirmación de devolución.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03 · 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Desafío 2 · Conectar las piezas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257800" cy="16002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73152" cy="1600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92224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Estudiante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489204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Solicita y utiliza el equipo. Si no entrega los datos, el préstamo queda incompleto.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57800" cy="16002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73152" cy="1600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792224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4B8A6"/>
                </a:solidFill>
                <a:latin typeface="Aptos"/>
              </a:rPr>
              <a:t>Personal del laboratorio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212848"/>
            <a:ext cx="489204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Verifica identidad, entrega el equipo y registra la devolución. Si omite pasos, el estado queda mal.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03320"/>
            <a:ext cx="5257800" cy="16002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03320"/>
            <a:ext cx="73152" cy="1600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849624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B923C"/>
                </a:solidFill>
                <a:latin typeface="Aptos"/>
              </a:rPr>
              <a:t>Computador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270248"/>
            <a:ext cx="489204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Tiene un código único y un estado. Si no está identificado, puede confundirse con otro equipo.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5257800" cy="16002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849624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563EB"/>
                </a:solidFill>
                <a:latin typeface="Aptos"/>
              </a:rPr>
              <a:t>Registro central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270248"/>
            <a:ext cx="4892040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Guarda responsable, fechas y estado actualizado. Si falla o no se sincroniza, muestra información incorrecta.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El sistema funciona bien cuando las personas, los equipos y el registro se mantienen coordinados.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04 · LA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Desafío 3 · Tarjeta de innovación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47548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22D3EE"/>
                </a:solidFill>
                <a:latin typeface="Aptos"/>
              </a:rPr>
              <a:t>Nombre: CampusTrack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84632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Un registro central, sencillo y compartido para consultar cada computador por su código. Cada préstamo y devolución se actualiza en el momento, con una confirmación del responsable.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645920"/>
            <a:ext cx="2514600" cy="132588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6459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792224"/>
            <a:ext cx="21671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¿QUÉ GUARDA?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212848"/>
            <a:ext cx="214884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Código · responsable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Fecha/hora · estado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645920"/>
            <a:ext cx="2514600" cy="132588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1645920"/>
            <a:ext cx="73152" cy="1325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1792224"/>
            <a:ext cx="21671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4B8A6"/>
                </a:solidFill>
                <a:latin typeface="Aptos"/>
              </a:rPr>
              <a:t>¿QUÉ MUESTRA?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2212848"/>
            <a:ext cx="2148840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Disponibles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Prestados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En revisión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291840"/>
            <a:ext cx="5303520" cy="132588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291840"/>
            <a:ext cx="73152" cy="1325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3438144"/>
            <a:ext cx="4956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B923C"/>
                </a:solidFill>
                <a:latin typeface="Aptos"/>
              </a:rPr>
              <a:t>¿A QUIÉN BENEFICIA?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3858768"/>
            <a:ext cx="4937759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Estudiantes: encuentran equipos reales. Personal: reduce revisiones y confusiones. Universidad: mejora el control de sus recursos.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466344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2E8F0"/>
                </a:solidFill>
                <a:latin typeface="Aptos"/>
              </a:rPr>
              <a:t>La idea no requiere construir una aplicación: puede empezar como una hoja digital compartida con permisos y campos obligatorios.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2D3EE"/>
                </a:solidFill>
                <a:latin typeface="Aptos"/>
              </a:rPr>
              <a:t>Nuestra idea en una frase: “CampusTrack merece ser considerada porque muestra el estado real de cada equipo y deja un historial claro de cada movimiento”.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05 ·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¿Cómo funcionaría CampusTrack?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1490472" y="178308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920240"/>
            <a:ext cx="685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97480"/>
            <a:ext cx="2487168" cy="18288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6974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843784"/>
            <a:ext cx="213969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Consultar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64408"/>
            <a:ext cx="2121408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Buscar el código del computador y comprobar que esté disponible.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40280" y="2121408"/>
            <a:ext cx="128016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343400" y="1783080"/>
            <a:ext cx="685800" cy="685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920240"/>
            <a:ext cx="685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697480"/>
            <a:ext cx="2487168" cy="18288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8728" y="2697480"/>
            <a:ext cx="73152" cy="1828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9896" y="2843784"/>
            <a:ext cx="213969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4B8A6"/>
                </a:solidFill>
                <a:latin typeface="Aptos"/>
              </a:rPr>
              <a:t>Registrar préstamo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3264408"/>
            <a:ext cx="2121408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Guardar estudiante responsable, fecha y hora; cambiar estado a PRESTADO.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93208" y="2121408"/>
            <a:ext cx="128016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96328" y="1783080"/>
            <a:ext cx="685800" cy="6858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6328" y="1920240"/>
            <a:ext cx="685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1656" y="2697480"/>
            <a:ext cx="2487168" cy="18288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91656" y="2697480"/>
            <a:ext cx="73152" cy="1828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2843784"/>
            <a:ext cx="213969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B923C"/>
                </a:solidFill>
                <a:latin typeface="Aptos"/>
              </a:rPr>
              <a:t>Confirmar devolución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3264408"/>
            <a:ext cx="2121408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El personal revisa el equipo y registra fecha y hora de entrega.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46136" y="2121408"/>
            <a:ext cx="128016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049256" y="1783080"/>
            <a:ext cx="685800" cy="6858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9256" y="1920240"/>
            <a:ext cx="685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44584" y="2697480"/>
            <a:ext cx="2487168" cy="18288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44584" y="2697480"/>
            <a:ext cx="73152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2843784"/>
            <a:ext cx="213969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2D3EE"/>
                </a:solidFill>
                <a:latin typeface="Aptos"/>
              </a:rPr>
              <a:t>Actualizar estado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2" y="3264408"/>
            <a:ext cx="2121408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Cambiar a DISPONIBLE o EN REVISIÓN si presenta un problema.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74920"/>
            <a:ext cx="106984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2D3EE"/>
                </a:solidFill>
                <a:latin typeface="Aptos"/>
              </a:rPr>
              <a:t>Regla básica: solo el personal autorizado confirma movimientos; cada cambio debe quedar registrado con fecha y responsable.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06 · CASOS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Desafío 4 · Poner la idea a prueba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22860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73152" cy="2286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83664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B923C"/>
                </a:solidFill>
                <a:latin typeface="Aptos"/>
              </a:rPr>
              <a:t>Situación A · Todos están prestados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4288"/>
            <a:ext cx="4892040" cy="1627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1. El sistema no permite registrar otro préstamo.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2. Muestra que no hay equipos disponibles.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3. El estudiante puede esperar o consultar cuándo se espera una devolución; no se promete una hora sin confirmarla.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257800" cy="22860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73152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883664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4B8A6"/>
                </a:solidFill>
                <a:latin typeface="Aptos"/>
              </a:rPr>
              <a:t>Situación B · Olvidaron registrar la devolución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04288"/>
            <a:ext cx="4892040" cy="1627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1. El estudiante entrega el equipo al personal.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2. Se compara el equipo físico con el registro.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3. El personal autorizado corrige el estado, registra fecha/hora reales y deja constancia de la corrección.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Control adicional: una revisión diaria de equipos presentes frente al registro ayuda a detectar diferencias antes de que se acumulen.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07 · REPRESENTACIÓN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Desafío 5 · Esquema de la solución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103120" cy="960120"/>
          </a:xfrm>
          <a:prstGeom prst="roundRect">
            <a:avLst/>
          </a:prstGeom>
          <a:solidFill>
            <a:srgbClr val="192E4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75688"/>
            <a:ext cx="1956815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8FAFC"/>
                </a:solidFill>
                <a:latin typeface="Aptos"/>
              </a:rPr>
              <a:t>ESTUDIANTE</a:t>
            </a:r>
          </a:p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8FAFC"/>
                </a:solidFill>
                <a:latin typeface="Aptos"/>
              </a:rPr>
              <a:t>solicita equipo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920240"/>
            <a:ext cx="2194560" cy="960120"/>
          </a:xfrm>
          <a:prstGeom prst="roundRect">
            <a:avLst/>
          </a:prstGeom>
          <a:solidFill>
            <a:srgbClr val="192E4E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2075688"/>
            <a:ext cx="2048255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8FAFC"/>
                </a:solidFill>
                <a:latin typeface="Aptos"/>
              </a:rPr>
              <a:t>PERSONAL</a:t>
            </a:r>
          </a:p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8FAFC"/>
                </a:solidFill>
                <a:latin typeface="Aptos"/>
              </a:rPr>
              <a:t>verifica y registra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920240"/>
            <a:ext cx="2194560" cy="960120"/>
          </a:xfrm>
          <a:prstGeom prst="roundRect">
            <a:avLst/>
          </a:prstGeom>
          <a:solidFill>
            <a:srgbClr val="192E4E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2075688"/>
            <a:ext cx="2048255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8FAFC"/>
                </a:solidFill>
                <a:latin typeface="Aptos"/>
              </a:rPr>
              <a:t>CAMPUS TRACK</a:t>
            </a:r>
          </a:p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8FAFC"/>
                </a:solidFill>
                <a:latin typeface="Aptos"/>
              </a:rPr>
              <a:t>registro central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920240"/>
            <a:ext cx="2468880" cy="960120"/>
          </a:xfrm>
          <a:prstGeom prst="roundRect">
            <a:avLst/>
          </a:prstGeom>
          <a:solidFill>
            <a:srgbClr val="192E4E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5672" y="2075688"/>
            <a:ext cx="2322576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8FAFC"/>
                </a:solidFill>
                <a:latin typeface="Aptos"/>
              </a:rPr>
              <a:t>ESTADO ACTUAL</a:t>
            </a:r>
          </a:p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8FAFC"/>
                </a:solidFill>
                <a:latin typeface="Aptos"/>
              </a:rPr>
              <a:t>Disponible / Prestado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34640" y="2404872"/>
            <a:ext cx="45720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0" y="2404872"/>
            <a:ext cx="50292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83879" y="2404872"/>
            <a:ext cx="548641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3703320"/>
            <a:ext cx="4663440" cy="11430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703320"/>
            <a:ext cx="73152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849624"/>
            <a:ext cx="43159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4B8A6"/>
                </a:solidFill>
                <a:latin typeface="Aptos"/>
              </a:rPr>
              <a:t>Beneficio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270248"/>
            <a:ext cx="4297679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Menos tiempo perdido buscando equipos que no están disponibles.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703320"/>
            <a:ext cx="4663440" cy="11430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37033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3849624"/>
            <a:ext cx="43159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Beneficio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4270248"/>
            <a:ext cx="4297679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Menos errores y mayor claridad sobre quién tiene cada computador.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22D3EE"/>
                </a:solidFill>
                <a:latin typeface="Aptos"/>
              </a:rPr>
              <a:t>Frase creativa: “Un equipo, un código, un estado claro: ¡campus inteligente!”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08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¿Qué pensamiento computacional utilizamos?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18288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73152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37944"/>
            <a:ext cx="30815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Pensamiento sistémico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58568"/>
            <a:ext cx="3063240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Vimos cómo se relacionan estudiantes, personal, computadores y registros. Una falla en una parte afecta a las demás.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18288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73152" cy="1828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37944"/>
            <a:ext cx="30815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4B8A6"/>
                </a:solidFill>
                <a:latin typeface="Aptos"/>
              </a:rPr>
              <a:t>Descomposición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58568"/>
            <a:ext cx="3063240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Dividimos el problema en identificar equipos, registrar préstamos, confirmar devoluciones y revisar diferencias.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29000" cy="182880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91640"/>
            <a:ext cx="73152" cy="1828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37944"/>
            <a:ext cx="30815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B923C"/>
                </a:solidFill>
                <a:latin typeface="Aptos"/>
              </a:rPr>
              <a:t>Patrones y abstracción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58568"/>
            <a:ext cx="3063240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Detectamos errores repetidos y priorizamos datos esenciales: código, responsable, fecha y estado.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1042416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Lógica de decisión: SI el estado es DISPONIBLE, se puede registrar el préstamo; SI el estado es PRESTADO, no se entrega; al confirmar la devolución, se actualiza el estado.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No hace falta programar para proponer una solución lógica, clara y posible.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09 · LO APRENDIDO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Reflexión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74920" cy="237744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73152" cy="2377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883664"/>
            <a:ext cx="47274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4B8A6"/>
                </a:solidFill>
                <a:latin typeface="Aptos"/>
              </a:rPr>
              <a:t>¿Qué aprendí?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04288"/>
            <a:ext cx="4709159" cy="1719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Utilicé pensamiento sistémico, descomposición, reconocimiento de patrones y abstracción. Estos conceptos ayudaron a ordenar el problema y escoger los datos más importantes para una solución.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074920" cy="237744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37360"/>
            <a:ext cx="73152" cy="2377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83664"/>
            <a:ext cx="47274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563EB"/>
                </a:solidFill>
                <a:latin typeface="Aptos"/>
              </a:rPr>
              <a:t>¿Por qué analizar antes de resolver?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304288"/>
            <a:ext cx="4709159" cy="1719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Aprendí que primero hay que entender las causas y a quién afecta el problema. Si se propone una solución sin revisar cómo ocurre el error, se puede corregir una parte y dejar la confusión igual.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104241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2D3EE"/>
                </a:solidFill>
                <a:latin typeface="Aptos"/>
              </a:rPr>
              <a:t>La innovación no tiene que ser complicada: debe responder a una necesidad real y poder utilizarse de manera responsable.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10 · CONTEXTO ACADÉMICO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Conexión con mi proceso de aprendizaje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22D3EE"/>
                </a:solidFill>
                <a:latin typeface="Aptos"/>
              </a:rPr>
              <a:t>Esta propuesta se relaciona con los temas académicos que he trabajado: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3337560" cy="141732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5146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660904"/>
            <a:ext cx="299008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Algoritmos y 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081528"/>
            <a:ext cx="297180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He trabajado ejercicios de pseudocódigo, PSeInt y Python, organizando entradas, procesos y salidas.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514600"/>
            <a:ext cx="3337560" cy="141732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514600"/>
            <a:ext cx="73152" cy="1417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660904"/>
            <a:ext cx="299008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4B8A6"/>
                </a:solidFill>
                <a:latin typeface="Aptos"/>
              </a:rPr>
              <a:t>Pensamiento computacional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3081528"/>
            <a:ext cx="297180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He abordado cómo dividir problemas, reconocer patrones y construir soluciones paso a paso.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514600"/>
            <a:ext cx="3337560" cy="1417320"/>
          </a:xfrm>
          <a:prstGeom prst="roundRect">
            <a:avLst/>
          </a:prstGeom>
          <a:solidFill>
            <a:srgbClr val="192E4E"/>
          </a:solidFill>
          <a:ln>
            <a:solidFill>
              <a:srgbClr val="34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514600"/>
            <a:ext cx="73152" cy="14173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660904"/>
            <a:ext cx="299008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B923C"/>
                </a:solidFill>
                <a:latin typeface="Aptos"/>
              </a:rPr>
              <a:t>Proyectos y reflexión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081528"/>
            <a:ext cx="297180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También he trabajado temas como ahorro de energía, contaminación visual y reflexión ética.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103784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Perfil académico resumido: estudiante en Colombia que desarrolla actividades universitarias y busca explicar los temas de forma clara, práctica y comprensible.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32120"/>
            <a:ext cx="10241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Aptos"/>
              </a:rPr>
              <a:t>Nota: se incluyen únicamente datos y temas compartidos en conversaciones anteriores; no se inventan datos personales adicionales.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11 · REVISIÓN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Antes de entregar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709928"/>
            <a:ext cx="256032" cy="25603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7840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Problema principal, afectados y causas identificados.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322576"/>
            <a:ext cx="256032" cy="25603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04288"/>
            <a:ext cx="97840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Cuatro elementos del sistema explicados y sus posibles fallas.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935224"/>
            <a:ext cx="256032" cy="25603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916936"/>
            <a:ext cx="97840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Tarjeta de Innovación completa: nombre, idea, funcionamiento y beneficios.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547872"/>
            <a:ext cx="256032" cy="25603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29584"/>
            <a:ext cx="97840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Situación A y situación B resueltas.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160520"/>
            <a:ext cx="256032" cy="25603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142232"/>
            <a:ext cx="97840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Esquema de la propuesta, dos beneficios y frase creativa incluidos.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773168"/>
            <a:ext cx="256032" cy="25603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754880"/>
            <a:ext cx="97840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Reflexión final sobre pensamiento computacional y análisis del problema.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Aptos"/>
              </a:rPr>
              <a:t>Integrante: Mateo García  •  Si es trabajo grupal, agregar los nombres completos de los demás integrantes.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Aptos"/>
              </a:rPr>
              <a:t>MISIÓN CUMPLIDA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200" b="1">
                <a:solidFill>
                  <a:srgbClr val="F8FAFC"/>
                </a:solidFill>
                <a:latin typeface="Aptos"/>
              </a:rPr>
              <a:t>Un equipo, un código,</a:t>
            </a:r>
          </a:p>
          <a:p>
            <a:pPr algn="ctr">
              <a:spcAft>
                <a:spcPts val="800"/>
              </a:spcAft>
            </a:pPr>
            <a:r>
              <a:rPr sz="3200" b="1">
                <a:solidFill>
                  <a:srgbClr val="F8FAFC"/>
                </a:solidFill>
                <a:latin typeface="Aptos"/>
              </a:rPr>
              <a:t>un estado claro.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37560"/>
            <a:ext cx="850392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0">
                <a:solidFill>
                  <a:srgbClr val="E2E8F0"/>
                </a:solidFill>
                <a:latin typeface="Aptos"/>
              </a:rPr>
              <a:t>CampusTrack convierte un registro confuso en información organizada para que estudiantes y personal puedan confiar en el estado real de cada computador.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4892040"/>
            <a:ext cx="192024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22D3EE"/>
                </a:solidFill>
                <a:latin typeface="Aptos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800" b="0">
                <a:solidFill>
                  <a:srgbClr val="94A3B8"/>
                </a:solidFill>
                <a:latin typeface="Aptos"/>
              </a:rPr>
              <a:t>DESARROLLO DEL PENSAMIENTO COMPUTACIONAL  •  MISIÓN CAMPUS INTELIGENTE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1">
                <a:solidFill>
                  <a:srgbClr val="22D3E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